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5458968"/>
            <a:ext cx="237744" cy="237744"/>
          </a:xfrm>
          <a:prstGeom prst="rect">
            <a:avLst/>
          </a:prstGeom>
          <a:solidFill>
            <a:srgbClr val="4A5C82"/>
          </a:solidFill>
          <a:ln w="6350">
            <a:solidFill>
              <a:srgbClr val="4A5C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5193792"/>
            <a:ext cx="237744" cy="237744"/>
          </a:xfrm>
          <a:prstGeom prst="rect">
            <a:avLst/>
          </a:prstGeom>
          <a:solidFill>
            <a:srgbClr val="4A5C82"/>
          </a:solidFill>
          <a:ln w="6350">
            <a:solidFill>
              <a:srgbClr val="4A5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6648" y="5458968"/>
            <a:ext cx="237744" cy="237744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56648" y="5193792"/>
            <a:ext cx="237744" cy="237744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6648" y="4928616"/>
            <a:ext cx="237744" cy="237744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56648" y="4663440"/>
            <a:ext cx="237744" cy="237744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49256" y="5458968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49256" y="5193792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49256" y="4928616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49256" y="4663440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49256" y="4398264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49256" y="4133088"/>
            <a:ext cx="237744" cy="237744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41864" y="5193792"/>
            <a:ext cx="237744" cy="237744"/>
          </a:xfrm>
          <a:prstGeom prst="rect">
            <a:avLst/>
          </a:prstGeom>
          <a:solidFill>
            <a:srgbClr val="4A5C82"/>
          </a:solidFill>
          <a:ln w="6350">
            <a:solidFill>
              <a:srgbClr val="4A5C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41864" y="4398264"/>
            <a:ext cx="237744" cy="237744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969264"/>
            <a:ext cx="128016" cy="128016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9A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· STRATEGY CANVAS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0848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双市场对照：Mugen 滩头 × 邻接市场扩展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免费开源底盘 · 捐赠 · Pro 买断 · 服务定制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65196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基于《ASU2 商业化方向分析》· 2026-09 · 个人业余副业设定 · 金额为敏感性估算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A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为什么是两张画布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1500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一份代码 · 两层市场 · 先滩头、后纵深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 · 2026-09 · 基于《ASU2 商业化方向分析》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212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78992"/>
            <a:ext cx="521208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7899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画布一 · Mugen 滩头（先打）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" y="1554480"/>
            <a:ext cx="4919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先打这里：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分发位成熟（MFFA / 千寻），共识接纳『工具付费』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验证成本低：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发布即做，现金投入 ≈ 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要接受的：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用户池 1,000–5,000、客单 $25–300、原版免费在位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先例参照：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Fighter Factory 免费 + Patreon 赞助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不指望：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高客单与快速增长——天花板由画布二打开</a:t>
            </a:r>
            <a:endParaRPr lang="en-US" sz="10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角色：跑通收款与口碑，攒可迁移的产品信用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37960" y="1078992"/>
            <a:ext cx="5212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078992"/>
            <a:ext cx="5212080" cy="384048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5976" y="107899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画布二 · 邻接市场（天花板）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84264" y="1554480"/>
            <a:ext cx="49194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为什么是天花板：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圈外付费能力更高，市场量级大一个数量级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买单逻辑：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对齐专业外包成本（单动画 $80–200）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参照市场：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独立游戏 $55.4 亿、CAGR ≈ 14.3%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启动条件：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1–2 数据达标，Go / No-Go 判定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要防的：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 Mugen 定位——功能兼容、话术分层</a:t>
            </a:r>
            <a:endParaRPr lang="en-US" sz="10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角色：把同一份代码卖进更大的盘子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43016" y="2057400"/>
            <a:ext cx="475488" cy="420624"/>
          </a:xfrm>
          <a:prstGeom prst="rightArrow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255117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6758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落地路线（判据驱动，任一阶段未达标即回退到维护+捐赠）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986784"/>
            <a:ext cx="2670048" cy="118872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 · 现在 – 1 个月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" y="449884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赞助入口 + 生态投稿，让『收钱』先存在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" y="51389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判据：收到 ≥ 1 笔捐赠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00984" y="3986784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0984" y="3986784"/>
            <a:ext cx="2670048" cy="118872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1 – 3 个月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449884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省时功能开发；itch.io 以 PWYW 上架测试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10712" y="51389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判据：累计 ¥300 或 30 人次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0488" y="3986784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88" y="3986784"/>
            <a:ext cx="2670048" cy="118872"/>
          </a:xfrm>
          <a:prstGeom prst="rect">
            <a:avLst/>
          </a:prstGeom>
          <a:solidFill>
            <a:srgbClr val="33415E"/>
          </a:solidFill>
          <a:ln w="6350">
            <a:solidFill>
              <a:srgbClr val="334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3 – 6 个月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449884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服务与定制接单（脚本 / 转换 / 白标）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51389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判据：能稳定接到单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79992" y="3986784"/>
            <a:ext cx="267004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79992" y="3986784"/>
            <a:ext cx="2670048" cy="118872"/>
          </a:xfrm>
          <a:prstGeom prst="rect">
            <a:avLst/>
          </a:prstGeom>
          <a:solidFill>
            <a:srgbClr val="4A5975"/>
          </a:solidFill>
          <a:ln w="6350">
            <a:solidFill>
              <a:srgbClr val="4A59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41879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6 个月 +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89720" y="449884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用真实数据评估邻接市场与 Ikemen 生态推荐位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89720" y="51389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判据：Go / No-Go 决策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08960" y="4700016"/>
            <a:ext cx="164592" cy="146304"/>
          </a:xfrm>
          <a:prstGeom prst="rightArrow">
            <a:avLst/>
          </a:prstGeom>
          <a:solidFill>
            <a:srgbClr val="B9AF9C"/>
          </a:solidFill>
          <a:ln w="6350">
            <a:solidFill>
              <a:srgbClr val="B9AF9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98464" y="4700016"/>
            <a:ext cx="164592" cy="146304"/>
          </a:xfrm>
          <a:prstGeom prst="rightArrow">
            <a:avLst/>
          </a:prstGeom>
          <a:solidFill>
            <a:srgbClr val="B9AF9C"/>
          </a:solidFill>
          <a:ln w="6350">
            <a:solidFill>
              <a:srgbClr val="B9AF9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87968" y="4700016"/>
            <a:ext cx="164592" cy="146304"/>
          </a:xfrm>
          <a:prstGeom prst="rightArrow">
            <a:avLst/>
          </a:prstGeom>
          <a:solidFill>
            <a:srgbClr val="B9AF9C"/>
          </a:solidFill>
          <a:ln w="6350">
            <a:solidFill>
              <a:srgbClr val="B9AF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60533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详细推演见《ASU2 商业化方向分析》；所有金额为敏感性估算，上线 3 个月后用真实数据校准。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画布一 · Mugen 滩头阵地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1500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免费底盘不缩水 · 先跑通捐赠 · Pro 只卖省时间 · 服务赚现金流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 · 2026-09 · 基于《ASU2 商业化方向分析》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41248"/>
            <a:ext cx="196596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412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重要伙伴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17830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MFFA 官方软件菜单收录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千寻分享 qxmugen 工具区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Infinity Mugen Team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Fighter Factory 生态上下游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Ikemen GO 长期推荐位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支付：爱发电 / PayPal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活跃作者：访谈与口碑节点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841248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32888" y="1170432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0：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赞助入口 + 投稿收录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省时功能开发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站每月 1–2 条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服务接单，只接合规单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2478024"/>
            <a:ext cx="2331720" cy="1837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478024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47802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2807208"/>
            <a:ext cx="21488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加速 / 新提取算法 / 细化拆分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中文语言包与本地化能力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社区信任：原创工具可收费共识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分发位：MFFA / 千寻已就绪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时间：每月数小时 + 按需开发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7176" y="841248"/>
            <a:ext cx="2331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7176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28616" y="1170432"/>
            <a:ext cx="21488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免费底盘：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不低于原版 ASU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定位：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只卖『省时间』</a:t>
            </a:r>
            <a:endParaRPr lang="en-US" sz="9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批量队列与自动化</a:t>
            </a:r>
            <a:endParaRPr lang="en-US" sz="9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/ 脚本接口（CI 式批量）</a:t>
            </a:r>
            <a:endParaRPr lang="en-US" sz="9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超大批量性能与稳定性</a:t>
            </a:r>
            <a:endParaRPr lang="en-US" sz="9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拆图 → 人物制作管线集成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中文优先：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语言包 + 中文教程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把『拆图后的一堆手工活』省掉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32904" y="841248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2904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24344" y="1170432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共建：路线图公开、更新透明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赞助纯自愿：抢先体验 + 催更权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红线：不锁版本、不换功能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付费者：一对一答疑与交付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32904" y="2478024"/>
            <a:ext cx="2331720" cy="1837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32904" y="2478024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6056" y="247802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渠道通路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24344" y="2807208"/>
            <a:ext cx="21488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MFFA 软件菜单（原版在位）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千寻 qxmugen 工具区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站教程 → 网盘 / QQ 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itch.io（PWYW）、GitHub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程序『关于』页 + 发布帖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28632" y="841248"/>
            <a:ext cx="21214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28632" y="841248"/>
            <a:ext cx="2121408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1784" y="8412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客户细分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20072" y="1170432"/>
            <a:ext cx="193852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核心付费：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 / 整合作者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次级：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像素、汉化、插件作者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基本盘：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免费玩家（不付费）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可触达 1,000–5,000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付费力：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 $25–300/角色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中文侧更活跃（B 站 / 千寻）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379976"/>
            <a:ext cx="5669280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379976"/>
            <a:ext cx="566928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4379976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709160"/>
            <a:ext cx="54864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 ≈ 0：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本地工具、无服务器 / 无订阅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时间（主要成本）：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开发 + 每月数小时运营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教程约半天 / 条；不投防破解，接受白嫖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舆情——口碑反噬代价最高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平台抽成 / 上架费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（待核实）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4379976"/>
            <a:ext cx="5605272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4768" y="4379976"/>
            <a:ext cx="5605272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379976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7064" y="4718304"/>
          <a:ext cx="544068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2468880"/>
                <a:gridCol w="176479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年化量级（粗估）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捐赠 / 赞助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爱发电 / Ko-fi / PayPal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¥50–3,000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 买断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 ¥18–68 / $3–10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+¥300–4,500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PWYW 随喜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itch.io 上架（兼做测试）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与上项重合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服务与定制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脚本 / 转换 / 定制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+¥500–10,000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6272784" y="60076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合计：副业形态年化数百元 ～ 一万余元；要上量级，须打开画布二。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画布二 · 邻接市场扩展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1500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同一份代码，换渠道与话术 · 由阶段 1–2 数据决定是否启动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 · 2026-09 · 基于《ASU2 商业化方向分析》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41248"/>
            <a:ext cx="196596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412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重要伙伴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178308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 平台（分成待核实）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像素画师 / 独立开发者社群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支付链路沿用（爱发电等）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潜在：外包工作室 / 中介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像素工具是 itch 主力品类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841248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32888" y="1170432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通用化：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/ 英文界面 / 文档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 运营与迭代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/ No-Go 由数据定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邻接渠道与话术分层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2478024"/>
            <a:ext cx="2331720" cy="1837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41448" y="2478024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47802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32888" y="2807208"/>
            <a:ext cx="21488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同一份代码：功能兼容、话术分层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加速积累（相对竞品差异）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Mugen 战场验证的产品与口碑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约束：时间精力，避免双线稀释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7176" y="841248"/>
            <a:ext cx="2331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7176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28616" y="1170432"/>
            <a:ext cx="21488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通用工具：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拆图 / 切图 / 批处理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素材不出机器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工作室向：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/ 白标定制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买单逻辑：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对齐专业外包成本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同一份代码：从人物到素材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32904" y="841248"/>
            <a:ext cx="2331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2904" y="841248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841248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24344" y="1170432"/>
            <a:ext cx="2148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平台自助：下载 / 更新 / 评价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邮件与社群支持；B2B 一对一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沿用『免费可用 + Pro 省时』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话术去 Mugen 化、品牌分层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32904" y="2478024"/>
            <a:ext cx="2331720" cy="1837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32904" y="2478024"/>
            <a:ext cx="233172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6056" y="247802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渠道通路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24344" y="2807208"/>
            <a:ext cx="21488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itch.io：像素工具主场（待核实）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 / YouTube 教程线复用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独立开发者与像素创作社群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Steam：暂缓，验证后再评估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28632" y="841248"/>
            <a:ext cx="21214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28632" y="841248"/>
            <a:ext cx="2121408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1784" y="841248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客户细分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20072" y="1170432"/>
            <a:ext cx="193852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像素画师、独立开发者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绘图的网格拆分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外包工作室（小单）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 Mugen 生态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存量复用：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Mugen 作者</a:t>
            </a:r>
            <a:endParaRPr lang="en-US" sz="9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参照：独立游戏市场 $55.4 亿、CAGR ≈ 14.3%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379976"/>
            <a:ext cx="5669280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379976"/>
            <a:ext cx="566928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4379976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709160"/>
            <a:ext cx="54864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 ≈ 0：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不追加资金投入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时间（主要）：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通用化改造 + 渠道运营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离开舒适区，获客成本上升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品牌：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分层管理，防 Mugen 定位稀释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平台分成 / 上架费</a:t>
            </a:r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（待核实）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4379976"/>
            <a:ext cx="5605272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4768" y="4379976"/>
            <a:ext cx="5605272" cy="274320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379976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7064" y="4718304"/>
          <a:ext cx="544068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2468880"/>
                <a:gridCol w="176479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5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5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5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PWYW 上架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itch.io 随喜价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先测转化率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固定价买断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通用版 Pro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参照竞品定价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B2B / 白标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批量工具、一次性费用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单笔高于 C 端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捐赠延续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沿用现有入口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跨市场共用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6272784" y="600760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量级上限最高；启动与否由阶段 1–2 真实数据裁定。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双画布对照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1500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滩头与天花板的取舍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 · 2026-09 · 基于《ASU2 商业化方向分析》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74520" y="1051560"/>
            <a:ext cx="4892040" cy="457200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02536" y="1051560"/>
            <a:ext cx="4636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画布一 · Mugen 滩头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4937760" cy="457200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0296" y="10515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画布二 · 邻接市场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051560"/>
            <a:ext cx="1417320" cy="457200"/>
          </a:xfrm>
          <a:prstGeom prst="rect">
            <a:avLst/>
          </a:prstGeom>
          <a:solidFill>
            <a:srgbClr val="33415E"/>
          </a:solidFill>
          <a:ln w="6350">
            <a:solidFill>
              <a:srgbClr val="334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05156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对照维度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1572768"/>
            <a:ext cx="4892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572768"/>
            <a:ext cx="4937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用户规模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02536" y="157276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可触达活跃用户 1,000–5,000 人，中文侧更活跃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0296" y="157276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独立游戏市场约 $55.4 亿，CAGR ≈ 14.3%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2212848"/>
            <a:ext cx="489204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2212848"/>
            <a:ext cx="493776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1284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付费能力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02536" y="221284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委托客单 $25–300 / 角色，价格敏感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0296" y="221284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单动画资产 $80–200；整包 ¥8,000–32,000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74520" y="2852928"/>
            <a:ext cx="4892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852928"/>
            <a:ext cx="4937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529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核心渠道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02536" y="285292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MFFA 菜单 / 千寻 / B 站 / 网盘分发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0296" y="285292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 / 独立开发者与像素社群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3493008"/>
            <a:ext cx="489204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493008"/>
            <a:ext cx="493776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930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收入结构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02536" y="349300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捐赠 + Pro 买断 + 服务定制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0296" y="349300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PWYW / 买断 + B2B 定制 + 捐赠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74520" y="4133088"/>
            <a:ext cx="4892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133088"/>
            <a:ext cx="4937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13308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02536" y="413308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白嫖破解、口碑反噬（免费精神）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0296" y="413308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稀释 Mugen 定位、推广成本上升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74520" y="4773168"/>
            <a:ext cx="489204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4773168"/>
            <a:ext cx="4937760" cy="640080"/>
          </a:xfrm>
          <a:prstGeom prst="rect">
            <a:avLst/>
          </a:prstGeom>
          <a:solidFill>
            <a:srgbClr val="E9E1D2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启动条件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02536" y="4773168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立即启动，阶段 0 → 2 依次推进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0296" y="4773168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1–2 数据达标后 Go / No-Go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5724144"/>
            <a:ext cx="11338560" cy="566928"/>
          </a:xfrm>
          <a:prstGeom prst="roundRect">
            <a:avLst>
              <a:gd name="adj" fmla="val 9677"/>
            </a:avLst>
          </a:prstGeom>
          <a:solidFill>
            <a:srgbClr val="FBF0DC"/>
          </a:solidFill>
          <a:ln w="6350">
            <a:solidFill>
              <a:srgbClr val="FBF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72414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同一份代码：功能层兼容，仅渠道与话术分层——Mugen 是入口市场，邻接是天花板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边界、红线与待验证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71500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哪些不做 · 哪些先核实 · 哪些先访谈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ASU2 商业模式画布 · 2026-09 · 基于《ASU2 商业化方向分析》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652760" y="6519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577840" cy="384048"/>
          </a:xfrm>
          <a:prstGeom prst="rect">
            <a:avLst/>
          </a:prstGeom>
          <a:solidFill>
            <a:srgbClr val="B0553E"/>
          </a:solidFill>
          <a:ln w="6350">
            <a:solidFill>
              <a:srgbClr val="B055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5156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明确排除（一律不做）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" y="1527048"/>
            <a:ext cx="52852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硬付费墙 / 强制订阅：舆情风险最高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版权素材相关服务：代提取游戏精灵图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付费云 SaaS：最多做免费 WASM 引流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Steam 上架：暂缓，验证后再评估</a:t>
            </a:r>
            <a:endParaRPr lang="en-US" sz="10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原则：与免费精神冲突的，一律不做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05156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051560"/>
            <a:ext cx="5577840" cy="384048"/>
          </a:xfrm>
          <a:prstGeom prst="rect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105156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法律与舆情红线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504" y="1527048"/>
            <a:ext cx="52852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分发物不得夹带 MUGEN 运行库 / 素材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不宣传『提取 XXX 游戏素材』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示例图只用原创 / CC 素材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免费版不缩水、不锁最新版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拒绝『捐赠换功能』式叙事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611880"/>
            <a:ext cx="5577840" cy="384048"/>
          </a:xfrm>
          <a:prstGeom prst="rect">
            <a:avLst/>
          </a:prstGeom>
          <a:solidFill>
            <a:srgbClr val="2E7D74"/>
          </a:solidFill>
          <a:ln w="6350">
            <a:solidFill>
              <a:srgbClr val="2E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6118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待核实清单 · 上线前补课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" y="4087368"/>
            <a:ext cx="52852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itch.io 分成与大陆提现路径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爱发电抽成；Ko-fi / GitHub Sponsors 大陆可用性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PayPal 个人收款现状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竞品现价：Aseprite / TexturePacker</a:t>
            </a:r>
            <a:endParaRPr lang="en-US" sz="10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行动：上线前花 30 分钟补齐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577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3"/>
            </a:solidFill>
            <a:prstDash val="solid"/>
          </a:ln>
          <a:effectLst>
            <a:outerShdw sx="100000" sy="100000" kx="0" ky="0" algn="bl" rotWithShape="0" blurRad="127000" dist="38100" dir="5400000">
              <a:srgbClr val="1F2A44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611880"/>
            <a:ext cx="5577840" cy="384048"/>
          </a:xfrm>
          <a:prstGeom prst="rect">
            <a:avLst/>
          </a:prstGeom>
          <a:solidFill>
            <a:srgbClr val="DE9A2B"/>
          </a:solidFill>
          <a:ln w="6350">
            <a:solidFill>
              <a:srgbClr val="DE9A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36118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 · 先访谈再投入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4087368"/>
            <a:ext cx="528523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『省时间』型功能值 ¥18–68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『拆图 → 人物制作』管线是最大付费点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免费版口碑是付费转化的前提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F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验证：5–10 位活跃作者 × 10 分钟访谈</a:t>
            </a:r>
            <a:endParaRPr lang="en-US" sz="10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A5A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访谈问题：最耗时的三步 + 愿为什么付钱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ASU2 商业模式画布 · 双市场对照</dc:title>
  <dc:subject>PptxGenJS Presentation</dc:subject>
  <dc:creator>ASU2</dc:creator>
  <cp:lastModifiedBy>ASU2</cp:lastModifiedBy>
  <cp:revision>1</cp:revision>
  <dcterms:created xsi:type="dcterms:W3CDTF">2026-09-22T12:32:36Z</dcterms:created>
  <dcterms:modified xsi:type="dcterms:W3CDTF">2026-09-22T12:32:36Z</dcterms:modified>
</cp:coreProperties>
</file>